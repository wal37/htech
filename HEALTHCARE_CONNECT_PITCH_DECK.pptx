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0360152" cy="58338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384048"/>
            <a:ext cx="9582912" cy="5074920"/>
          </a:xfrm>
          <a:prstGeom prst="roundRect">
            <a:avLst/>
          </a:prstGeom>
          <a:solidFill>
            <a:srgbClr val="09151F"/>
          </a:solidFill>
          <a:ln>
            <a:solidFill>
              <a:srgbClr val="0915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88352" y="384048"/>
            <a:ext cx="2578608" cy="5074920"/>
          </a:xfrm>
          <a:prstGeom prst="roundRect">
            <a:avLst/>
          </a:prstGeom>
          <a:solidFill>
            <a:srgbClr val="163149"/>
          </a:solidFill>
          <a:ln>
            <a:solidFill>
              <a:srgbClr val="163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7973568" y="868680"/>
            <a:ext cx="1353312" cy="1353312"/>
          </a:xfrm>
          <a:prstGeom prst="star5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8D3E6"/>
                </a:solidFill>
                <a:latin typeface="Aptos"/>
              </a:rPr>
              <a:t>Health + Data + AI +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389888"/>
            <a:ext cx="5669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Georgia"/>
              </a:rPr>
              <a:t>Healthcare Connect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8716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8E6EE"/>
                </a:solidFill>
                <a:latin typeface="Aptos"/>
              </a:rPr>
              <a:t>A government-ready operating system for modern healthcare coordination, reporting, and AI-assisted oversight.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57200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E6EE"/>
                </a:solidFill>
                <a:latin typeface="Aptos"/>
              </a:rPr>
              <a:t>enquiry@healthcareconnect.ca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07808" y="1828800"/>
            <a:ext cx="1993392" cy="841248"/>
          </a:xfrm>
          <a:prstGeom prst="roundRect">
            <a:avLst/>
          </a:prstGeom>
          <a:solidFill>
            <a:srgbClr val="1B3750"/>
          </a:solidFill>
          <a:ln>
            <a:solidFill>
              <a:srgbClr val="1B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956816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6C8DF"/>
                </a:solidFill>
                <a:latin typeface="Aptos"/>
              </a:rPr>
              <a:t>$288.6B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94560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Georgia"/>
              </a:rPr>
              <a:t>digital health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07808" y="2889504"/>
            <a:ext cx="1993392" cy="841248"/>
          </a:xfrm>
          <a:prstGeom prst="roundRect">
            <a:avLst/>
          </a:prstGeom>
          <a:solidFill>
            <a:srgbClr val="1B3750"/>
          </a:solidFill>
          <a:ln>
            <a:solidFill>
              <a:srgbClr val="1B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30175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6C8DF"/>
                </a:solidFill>
                <a:latin typeface="Aptos"/>
              </a:rPr>
              <a:t>$94.95B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255264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Georgia"/>
              </a:rPr>
              <a:t>U.S. 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950208"/>
            <a:ext cx="1993392" cy="841248"/>
          </a:xfrm>
          <a:prstGeom prst="roundRect">
            <a:avLst/>
          </a:prstGeom>
          <a:solidFill>
            <a:srgbClr val="1B3750"/>
          </a:solidFill>
          <a:ln>
            <a:solidFill>
              <a:srgbClr val="1B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4078224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6C8DF"/>
                </a:solidFill>
                <a:latin typeface="Aptos"/>
              </a:rPr>
              <a:t>$42.5B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31596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Georgia"/>
              </a:rPr>
              <a:t>health cloud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128016" cy="822960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" y="6583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D2332"/>
                </a:solidFill>
                <a:latin typeface="Georgia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124712"/>
            <a:ext cx="8869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Most healthcare systems still run across fragmented records, slow routing, weak reporting, and disconnected oversight.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901952"/>
            <a:ext cx="2926080" cy="109728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Fragmented 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Patient records, referrals, service history, and follow-up actions are often split across facilities and siloed tools.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0" y="1901952"/>
            <a:ext cx="2926080" cy="109728"/>
          </a:xfrm>
          <a:prstGeom prst="rect">
            <a:avLst/>
          </a:prstGeom>
          <a:solidFill>
            <a:srgbClr val="0C8A7B"/>
          </a:solidFill>
          <a:ln>
            <a:solidFill>
              <a:srgbClr val="0C8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4164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Weak visibility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Ministries, hospital groups, and regional operators struggle to see demand, bottlenecks, and program performance in real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0" y="1901952"/>
            <a:ext cx="2926080" cy="109728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8776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Data without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776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Health data may exist, but not inside a platform that supports secure workflows, routing, and governed decision-making.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5488" y="475488"/>
            <a:ext cx="9418320" cy="5394960"/>
          </a:xfrm>
          <a:prstGeom prst="roundRect">
            <a:avLst/>
          </a:prstGeom>
          <a:solidFill>
            <a:srgbClr val="EEF5F4"/>
          </a:solidFill>
          <a:ln>
            <a:solidFill>
              <a:srgbClr val="EE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58368"/>
            <a:ext cx="128016" cy="822960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6583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D2332"/>
                </a:solidFill>
                <a:latin typeface="Georgia"/>
              </a:rPr>
              <a:t>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1124712"/>
            <a:ext cx="8869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Healthcare Connect turns fragmented health workflows into one secure cloud operating layer for care, reporting, and system oversight.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048256"/>
            <a:ext cx="201168" cy="201168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975104"/>
            <a:ext cx="7955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2332"/>
                </a:solidFill>
                <a:latin typeface="Aptos"/>
              </a:rPr>
              <a:t>Unified patient and case records across authorized health institutions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889504"/>
            <a:ext cx="201168" cy="201168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7955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2332"/>
                </a:solidFill>
                <a:latin typeface="Aptos"/>
              </a:rPr>
              <a:t>Referral, scheduling, discharge, and follow-up coordination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730752"/>
            <a:ext cx="201168" cy="201168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57600"/>
            <a:ext cx="7955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2332"/>
                </a:solidFill>
                <a:latin typeface="Aptos"/>
              </a:rPr>
              <a:t>Facility, workforce, claims, and program reporting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572000"/>
            <a:ext cx="201168" cy="201168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498848"/>
            <a:ext cx="7955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2332"/>
                </a:solidFill>
                <a:latin typeface="Aptos"/>
              </a:rPr>
              <a:t>AI support for forecasting, triage, risk review, and anomaly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128016" cy="822960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" y="6583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D2332"/>
                </a:solidFill>
                <a:latin typeface="Georgia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124712"/>
            <a:ext cx="8869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Three market forces make government-grade health infrastructure a high-conviction timing opportunity.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901952"/>
            <a:ext cx="2926080" cy="109728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Digitization budgets are moving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The global digital health market reached $288.55B in 2024 and is projected to reach $946.04B by 2030.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0" y="1901952"/>
            <a:ext cx="2926080" cy="109728"/>
          </a:xfrm>
          <a:prstGeom prst="rect">
            <a:avLst/>
          </a:prstGeom>
          <a:solidFill>
            <a:srgbClr val="0C8A7B"/>
          </a:solidFill>
          <a:ln>
            <a:solidFill>
              <a:srgbClr val="0C8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4164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U.S. market is already large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The U.S. digital health market is estimated at $94.95B in 2024 and projected to reach $276.62B by 2030.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0" y="1901952"/>
            <a:ext cx="2926080" cy="109728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8776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AI + cloud need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776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Healthcare cloud reached $42.5B in 2024, while AI in healthcare is projected to reach $505.59B by 2033.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128016" cy="822960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" y="6583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D2332"/>
                </a:solidFill>
                <a:latin typeface="Georgia"/>
              </a:rPr>
              <a:t>Product wedge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124712"/>
            <a:ext cx="8869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Healthcare Connect sits at the operational center of care delivery, reporting, and health-system intelligence.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01952"/>
            <a:ext cx="233172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84832"/>
            <a:ext cx="19293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332"/>
                </a:solidFill>
                <a:latin typeface="Georgia"/>
              </a:rPr>
              <a:t>Inputs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2670048"/>
            <a:ext cx="18196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• Patient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00400"/>
            <a:ext cx="18196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• Facility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3730752"/>
            <a:ext cx="18196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• Program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1664208"/>
            <a:ext cx="2971800" cy="3703320"/>
          </a:xfrm>
          <a:prstGeom prst="roundRect">
            <a:avLst/>
          </a:prstGeom>
          <a:solidFill>
            <a:srgbClr val="0F2E46"/>
          </a:solidFill>
          <a:ln>
            <a:solidFill>
              <a:srgbClr val="0F2E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50207" y="1847088"/>
            <a:ext cx="2569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Healthcare Connect 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5071" y="2432304"/>
            <a:ext cx="24597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E6EE"/>
                </a:solidFill>
                <a:latin typeface="Aptos"/>
              </a:rPr>
              <a:t>•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5071" y="2962656"/>
            <a:ext cx="24597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E6EE"/>
                </a:solidFill>
                <a:latin typeface="Aptos"/>
              </a:rPr>
              <a:t>• Referrals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5071" y="3493008"/>
            <a:ext cx="24597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E6EE"/>
                </a:solidFill>
                <a:latin typeface="Aptos"/>
              </a:rPr>
              <a:t>•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5071" y="4023359"/>
            <a:ext cx="24597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E6EE"/>
                </a:solidFill>
                <a:latin typeface="Aptos"/>
              </a:rPr>
              <a:t>• AI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5071" y="4553711"/>
            <a:ext cx="24597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E6EE"/>
                </a:solidFill>
                <a:latin typeface="Aptos"/>
              </a:rPr>
              <a:t>• Oversight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1901952"/>
            <a:ext cx="233172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2088" y="2084832"/>
            <a:ext cx="19293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332"/>
                </a:solidFill>
                <a:latin typeface="Georgia"/>
              </a:rPr>
              <a:t>Outputs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2" y="2670048"/>
            <a:ext cx="18196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• Care continuity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6952" y="3200400"/>
            <a:ext cx="18196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• Dashboards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2" y="3730752"/>
            <a:ext cx="18196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• Forecasts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4261103"/>
            <a:ext cx="18196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• Public reporting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128016" cy="822960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" y="6583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D2332"/>
                </a:solidFill>
                <a:latin typeface="Georgia"/>
              </a:rPr>
              <a:t>Core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124712"/>
            <a:ext cx="8869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The platform expands from a coordination wedge into broader system infrastructure over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28800"/>
            <a:ext cx="9098280" cy="713232"/>
          </a:xfrm>
          <a:prstGeom prst="roundRect">
            <a:avLst/>
          </a:prstGeom>
          <a:solidFill>
            <a:srgbClr val="EAF2F6"/>
          </a:solidFill>
          <a:ln>
            <a:solidFill>
              <a:srgbClr val="C9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975104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E46"/>
                </a:solidFill>
                <a:latin typeface="Georgia"/>
              </a:rPr>
              <a:t>Patient record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956816"/>
            <a:ext cx="6492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D2332"/>
                </a:solidFill>
                <a:latin typeface="Aptos"/>
              </a:rPr>
              <a:t>Longitudinal profiles, documents, diagnoses, medications, and encounter continuity.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743200"/>
            <a:ext cx="9098280" cy="713232"/>
          </a:xfrm>
          <a:prstGeom prst="roundRect">
            <a:avLst/>
          </a:prstGeom>
          <a:solidFill>
            <a:srgbClr val="DDEBF3"/>
          </a:solidFill>
          <a:ln>
            <a:solidFill>
              <a:srgbClr val="C9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889504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E46"/>
                </a:solidFill>
                <a:latin typeface="Georgia"/>
              </a:rPr>
              <a:t>Coordination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871216"/>
            <a:ext cx="6492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D2332"/>
                </a:solidFill>
                <a:latin typeface="Aptos"/>
              </a:rPr>
              <a:t>Referrals, scheduling, case routing, care-team actions, and follow-up management.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657600"/>
            <a:ext cx="9098280" cy="713232"/>
          </a:xfrm>
          <a:prstGeom prst="roundRect">
            <a:avLst/>
          </a:prstGeom>
          <a:solidFill>
            <a:srgbClr val="EAF2F6"/>
          </a:solidFill>
          <a:ln>
            <a:solidFill>
              <a:srgbClr val="C9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803904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E46"/>
                </a:solidFill>
                <a:latin typeface="Georgia"/>
              </a:rPr>
              <a:t>Administration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785616"/>
            <a:ext cx="6492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D2332"/>
                </a:solidFill>
                <a:latin typeface="Aptos"/>
              </a:rPr>
              <a:t>Claims, program eligibility, facility oversight, and workflow reporting.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572000"/>
            <a:ext cx="9098280" cy="713232"/>
          </a:xfrm>
          <a:prstGeom prst="roundRect">
            <a:avLst/>
          </a:prstGeom>
          <a:solidFill>
            <a:srgbClr val="DDEBF3"/>
          </a:solidFill>
          <a:ln>
            <a:solidFill>
              <a:srgbClr val="C9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718304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E46"/>
                </a:solidFill>
                <a:latin typeface="Georgia"/>
              </a:rPr>
              <a:t>Intelligence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700016"/>
            <a:ext cx="6492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D2332"/>
                </a:solidFill>
                <a:latin typeface="Aptos"/>
              </a:rPr>
              <a:t>Dashboards, forecasting, anomaly detection, and governed AI support.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128016" cy="822960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" y="6583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D2332"/>
                </a:solidFill>
                <a:latin typeface="Georgia"/>
              </a:rPr>
              <a:t>Beachhead customers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124712"/>
            <a:ext cx="8869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The first buyers are institutions with urgent coordination needs, budget authority, and recurring operational complexity.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901952"/>
            <a:ext cx="2926080" cy="109728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National programs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High-value deployments around immunization, maternal health, chronic care, disease programs, and public reporting.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0" y="1901952"/>
            <a:ext cx="2926080" cy="109728"/>
          </a:xfrm>
          <a:prstGeom prst="rect">
            <a:avLst/>
          </a:prstGeom>
          <a:solidFill>
            <a:srgbClr val="0C8A7B"/>
          </a:solidFill>
          <a:ln>
            <a:solidFill>
              <a:srgbClr val="0C8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4164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Regional oversight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Authorities need visibility across facilities, referrals, workforce activity, and health-system performance.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0" y="1901952"/>
            <a:ext cx="2926080" cy="109728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8776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Provider networks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776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Hospitals, labs, pharmacies, and regulated partners need one governed environment instead of disconnected tools.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128016" cy="822960"/>
          </a:xfrm>
          <a:prstGeom prst="rect">
            <a:avLst/>
          </a:prstGeom>
          <a:solidFill>
            <a:srgbClr val="0C8A7B"/>
          </a:solidFill>
          <a:ln>
            <a:solidFill>
              <a:srgbClr val="0C8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" y="6583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Georgia"/>
              </a:rPr>
              <a:t>How value is created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124712"/>
            <a:ext cx="8869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E6EE"/>
                </a:solidFill>
                <a:latin typeface="Aptos"/>
              </a:rPr>
              <a:t>The product produces operational value in a repeatable loop from intake to insight.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2359152"/>
            <a:ext cx="1920240" cy="2267712"/>
          </a:xfrm>
          <a:prstGeom prst="roundRect">
            <a:avLst/>
          </a:prstGeom>
          <a:solidFill>
            <a:srgbClr val="173044"/>
          </a:solidFill>
          <a:ln>
            <a:solidFill>
              <a:srgbClr val="2244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78608"/>
            <a:ext cx="310896" cy="310896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6736" y="2578608"/>
            <a:ext cx="36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C9DF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Register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15727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E6EE"/>
                </a:solidFill>
                <a:latin typeface="Aptos"/>
              </a:rPr>
              <a:t>Create or locate patient identity, authorized records, and service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2359152"/>
            <a:ext cx="1920240" cy="2267712"/>
          </a:xfrm>
          <a:prstGeom prst="roundRect">
            <a:avLst/>
          </a:prstGeom>
          <a:solidFill>
            <a:srgbClr val="173044"/>
          </a:solidFill>
          <a:ln>
            <a:solidFill>
              <a:srgbClr val="2244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82112" y="2578608"/>
            <a:ext cx="310896" cy="310896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2578608"/>
            <a:ext cx="36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C9DF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297180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Coordinate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3474720"/>
            <a:ext cx="15727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E6EE"/>
                </a:solidFill>
                <a:latin typeface="Aptos"/>
              </a:rPr>
              <a:t>Route referrals, diagnostics, follow-up tasks, and cross-facility 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85232" y="2359152"/>
            <a:ext cx="1920240" cy="2267712"/>
          </a:xfrm>
          <a:prstGeom prst="roundRect">
            <a:avLst/>
          </a:prstGeom>
          <a:solidFill>
            <a:srgbClr val="173044"/>
          </a:solidFill>
          <a:ln>
            <a:solidFill>
              <a:srgbClr val="2244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49824" y="2578608"/>
            <a:ext cx="310896" cy="310896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2578608"/>
            <a:ext cx="36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C9DF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9824" y="297180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474720"/>
            <a:ext cx="15727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E6EE"/>
                </a:solidFill>
                <a:latin typeface="Aptos"/>
              </a:rPr>
              <a:t>Aggregate facility, program, and regional activity into structured dashboards.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52944" y="2359152"/>
            <a:ext cx="1920240" cy="2267712"/>
          </a:xfrm>
          <a:prstGeom prst="roundRect">
            <a:avLst/>
          </a:prstGeom>
          <a:solidFill>
            <a:srgbClr val="173044"/>
          </a:solidFill>
          <a:ln>
            <a:solidFill>
              <a:srgbClr val="2244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17536" y="2578608"/>
            <a:ext cx="310896" cy="310896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9872" y="2578608"/>
            <a:ext cx="36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C9DF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7536" y="297180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Improve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17536" y="3474720"/>
            <a:ext cx="15727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E6EE"/>
                </a:solidFill>
                <a:latin typeface="Aptos"/>
              </a:rPr>
              <a:t>Use analytics and AI support to plan capacity, flag risk, and strengthen performance.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128016" cy="822960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" y="6583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D2332"/>
                </a:solidFill>
                <a:latin typeface="Georgia"/>
              </a:rPr>
              <a:t>Why this can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124712"/>
            <a:ext cx="8869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Trust, governance, and workflow depth create defensibility in regulated deployment environments.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9144000" cy="3493008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48256"/>
            <a:ext cx="2103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07284"/>
                </a:solidFill>
                <a:latin typeface="Aptos"/>
              </a:rPr>
              <a:t>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048256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07284"/>
                </a:solidFill>
                <a:latin typeface="Aptos"/>
              </a:rPr>
              <a:t>Record or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6448" y="2048256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07284"/>
                </a:solidFill>
                <a:latin typeface="Aptos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2450592"/>
            <a:ext cx="8732520" cy="9144"/>
          </a:xfrm>
          <a:prstGeom prst="rect">
            <a:avLst/>
          </a:prstGeom>
          <a:solidFill>
            <a:srgbClr val="D9E7EE"/>
          </a:solidFill>
          <a:ln>
            <a:solidFill>
              <a:srgbClr val="D9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D2332"/>
                </a:solidFill>
                <a:latin typeface="Aptos"/>
              </a:rPr>
              <a:t>Access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505456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Patient records and workflows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50545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C8A7B"/>
                </a:solidFill>
                <a:latin typeface="Aptos"/>
              </a:rPr>
              <a:t>defensible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" y="3108960"/>
            <a:ext cx="8732520" cy="9144"/>
          </a:xfrm>
          <a:prstGeom prst="rect">
            <a:avLst/>
          </a:prstGeom>
          <a:solidFill>
            <a:srgbClr val="D9E7EE"/>
          </a:solidFill>
          <a:ln>
            <a:solidFill>
              <a:srgbClr val="D9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163824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D2332"/>
                </a:solidFill>
                <a:latin typeface="Aptos"/>
              </a:rPr>
              <a:t>Audit trail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163824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Record activity and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16382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C8A7B"/>
                </a:solidFill>
                <a:latin typeface="Aptos"/>
              </a:rPr>
              <a:t>embedded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" y="3767327"/>
            <a:ext cx="8732520" cy="9144"/>
          </a:xfrm>
          <a:prstGeom prst="rect">
            <a:avLst/>
          </a:prstGeom>
          <a:solidFill>
            <a:srgbClr val="D9E7EE"/>
          </a:solidFill>
          <a:ln>
            <a:solidFill>
              <a:srgbClr val="D9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22191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D2332"/>
                </a:solidFill>
                <a:latin typeface="Aptos"/>
              </a:rPr>
              <a:t>Data protection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822191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Cloud and backup 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3822191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C8A7B"/>
                </a:solidFill>
                <a:latin typeface="Aptos"/>
              </a:rPr>
              <a:t>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536" y="4425696"/>
            <a:ext cx="8732520" cy="9144"/>
          </a:xfrm>
          <a:prstGeom prst="rect">
            <a:avLst/>
          </a:prstGeom>
          <a:solidFill>
            <a:srgbClr val="D9E7EE"/>
          </a:solidFill>
          <a:ln>
            <a:solidFill>
              <a:srgbClr val="D9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D2332"/>
                </a:solidFill>
                <a:latin typeface="Aptos"/>
              </a:rPr>
              <a:t>Program oversight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448056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Regional reporting and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448056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C8A7B"/>
                </a:solidFill>
                <a:latin typeface="Aptos"/>
              </a:rPr>
              <a:t>sticky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128016" cy="822960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" y="6583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D2332"/>
                </a:solidFill>
                <a:latin typeface="Georgia"/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124712"/>
            <a:ext cx="8869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Healthcare Connect sits inside multiple large infrastructure markets with recurring modernization demand.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901952"/>
            <a:ext cx="2926080" cy="109728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$288.55B digital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Global digital health was valued at $288.55B in 2024 and is projected to reach $946.04B by 2030.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0" y="1901952"/>
            <a:ext cx="2926080" cy="109728"/>
          </a:xfrm>
          <a:prstGeom prst="rect">
            <a:avLst/>
          </a:prstGeom>
          <a:solidFill>
            <a:srgbClr val="0C8A7B"/>
          </a:solidFill>
          <a:ln>
            <a:solidFill>
              <a:srgbClr val="0C8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4164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$76.72B cloud infrastructure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Global healthcare cloud infrastructure reached $76.72B in 2024, with 16.66% CAGR projected through 2030.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0" y="1901952"/>
            <a:ext cx="2926080" cy="109728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8776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$505.59B AI in healthcare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776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Grand View projects global AI in healthcare could reach $505.59B by 2033, with North America leading adoption.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5488" y="475488"/>
            <a:ext cx="9418320" cy="5394960"/>
          </a:xfrm>
          <a:prstGeom prst="roundRect">
            <a:avLst/>
          </a:prstGeom>
          <a:solidFill>
            <a:srgbClr val="EEF5F4"/>
          </a:solidFill>
          <a:ln>
            <a:solidFill>
              <a:srgbClr val="EE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58368"/>
            <a:ext cx="128016" cy="822960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6583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D2332"/>
                </a:solidFill>
                <a:latin typeface="Georgia"/>
              </a:rPr>
              <a:t>Go-to-market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1124712"/>
            <a:ext cx="8869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Commercial entry starts with high-need operational deployments and expands through network-level integration.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048256"/>
            <a:ext cx="201168" cy="201168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975104"/>
            <a:ext cx="7955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2332"/>
                </a:solidFill>
                <a:latin typeface="Aptos"/>
              </a:rPr>
              <a:t>Lead with high-friction coordination and reporting use cases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889504"/>
            <a:ext cx="201168" cy="201168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7955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2332"/>
                </a:solidFill>
                <a:latin typeface="Aptos"/>
              </a:rPr>
              <a:t>Sell into ministries, regional authorities, and public hospital groups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730752"/>
            <a:ext cx="201168" cy="201168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57600"/>
            <a:ext cx="7955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2332"/>
                </a:solidFill>
                <a:latin typeface="Aptos"/>
              </a:rPr>
              <a:t>Expand from initial workflows into reporting, claims, and AI modules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572000"/>
            <a:ext cx="201168" cy="201168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498848"/>
            <a:ext cx="7955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2332"/>
                </a:solidFill>
                <a:latin typeface="Aptos"/>
              </a:rPr>
              <a:t>Build multi-year revenue through deployment, integration, and enterprise contracts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128016" cy="822960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" y="6583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D2332"/>
                </a:solidFill>
                <a:latin typeface="Georgia"/>
              </a:rPr>
              <a:t>Revenue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124712"/>
            <a:ext cx="8869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Revenue compounds through infrastructure contracts, implementation layers, and high-value add-on modules.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901952"/>
            <a:ext cx="2926080" cy="109728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Platform licensing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Government and enterprise health contracts tied to program, region, or network deployment.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0" y="1901952"/>
            <a:ext cx="2926080" cy="109728"/>
          </a:xfrm>
          <a:prstGeom prst="rect">
            <a:avLst/>
          </a:prstGeom>
          <a:solidFill>
            <a:srgbClr val="0C8A7B"/>
          </a:solidFill>
          <a:ln>
            <a:solidFill>
              <a:srgbClr val="0C8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4164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Implementation 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Integration, rollout, migration, training, and workflow configuration services.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901952"/>
            <a:ext cx="29260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4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0" y="1901952"/>
            <a:ext cx="2926080" cy="109728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87768" y="2130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E46"/>
                </a:solidFill>
                <a:latin typeface="Georgia"/>
              </a:rPr>
              <a:t>Expansion modules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7768" y="2670048"/>
            <a:ext cx="2514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Premium analytics, interoperability, claims workflows, and governed AI support.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128016" cy="822960"/>
          </a:xfrm>
          <a:prstGeom prst="rect">
            <a:avLst/>
          </a:prstGeom>
          <a:solidFill>
            <a:srgbClr val="0C8A7B"/>
          </a:solidFill>
          <a:ln>
            <a:solidFill>
              <a:srgbClr val="0C8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" y="6583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Georgia"/>
              </a:rPr>
              <a:t>Expansion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124712"/>
            <a:ext cx="8869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E6EE"/>
                </a:solidFill>
                <a:latin typeface="Aptos"/>
              </a:rPr>
              <a:t>The business expands from workflow infrastructure into broader system intelligence and network coverage.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2359152"/>
            <a:ext cx="1920240" cy="2267712"/>
          </a:xfrm>
          <a:prstGeom prst="roundRect">
            <a:avLst/>
          </a:prstGeom>
          <a:solidFill>
            <a:srgbClr val="173044"/>
          </a:solidFill>
          <a:ln>
            <a:solidFill>
              <a:srgbClr val="2244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78608"/>
            <a:ext cx="310896" cy="310896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6736" y="2578608"/>
            <a:ext cx="36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C9DF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15727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E6EE"/>
                </a:solidFill>
                <a:latin typeface="Aptos"/>
              </a:rPr>
              <a:t>Win with coordination, identity, referrals, and dashboards.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2359152"/>
            <a:ext cx="1920240" cy="2267712"/>
          </a:xfrm>
          <a:prstGeom prst="roundRect">
            <a:avLst/>
          </a:prstGeom>
          <a:solidFill>
            <a:srgbClr val="173044"/>
          </a:solidFill>
          <a:ln>
            <a:solidFill>
              <a:srgbClr val="2244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82112" y="2578608"/>
            <a:ext cx="310896" cy="310896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2578608"/>
            <a:ext cx="36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C9DF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297180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3474720"/>
            <a:ext cx="15727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E6EE"/>
                </a:solidFill>
                <a:latin typeface="Aptos"/>
              </a:rPr>
              <a:t>Expand into claims, reporting, and population-level oversight.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85232" y="2359152"/>
            <a:ext cx="1920240" cy="2267712"/>
          </a:xfrm>
          <a:prstGeom prst="roundRect">
            <a:avLst/>
          </a:prstGeom>
          <a:solidFill>
            <a:srgbClr val="173044"/>
          </a:solidFill>
          <a:ln>
            <a:solidFill>
              <a:srgbClr val="2244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49824" y="2578608"/>
            <a:ext cx="310896" cy="310896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2578608"/>
            <a:ext cx="36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C9DF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9824" y="297180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474720"/>
            <a:ext cx="15727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E6EE"/>
                </a:solidFill>
                <a:latin typeface="Aptos"/>
              </a:rPr>
              <a:t>Layer in AI support, forecasting, and anomaly detection.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52944" y="2359152"/>
            <a:ext cx="1920240" cy="2267712"/>
          </a:xfrm>
          <a:prstGeom prst="roundRect">
            <a:avLst/>
          </a:prstGeom>
          <a:solidFill>
            <a:srgbClr val="173044"/>
          </a:solidFill>
          <a:ln>
            <a:solidFill>
              <a:srgbClr val="2244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17536" y="2578608"/>
            <a:ext cx="310896" cy="310896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9872" y="2578608"/>
            <a:ext cx="36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C9DF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7536" y="297180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Phase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17536" y="3474720"/>
            <a:ext cx="15727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E6EE"/>
                </a:solidFill>
                <a:latin typeface="Aptos"/>
              </a:rPr>
              <a:t>Scale to national interoperability and program-specific extensions.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5488" y="475488"/>
            <a:ext cx="9418320" cy="5394960"/>
          </a:xfrm>
          <a:prstGeom prst="roundRect">
            <a:avLst/>
          </a:prstGeom>
          <a:solidFill>
            <a:srgbClr val="EEF5F4"/>
          </a:solidFill>
          <a:ln>
            <a:solidFill>
              <a:srgbClr val="EE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58368"/>
            <a:ext cx="128016" cy="822960"/>
          </a:xfrm>
          <a:prstGeom prst="rect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6583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D2332"/>
                </a:solidFill>
                <a:latin typeface="Georgia"/>
              </a:rPr>
              <a:t>Investment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1124712"/>
            <a:ext cx="8869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7284"/>
                </a:solidFill>
                <a:latin typeface="Aptos"/>
              </a:rPr>
              <a:t>Healthcare Connect sits where public-sector digitization, healthcare IT replacement, and governed AI adoption meet.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048256"/>
            <a:ext cx="201168" cy="201168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975104"/>
            <a:ext cx="7955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2332"/>
                </a:solidFill>
                <a:latin typeface="Aptos"/>
              </a:rPr>
              <a:t>Large multi-market opportunity across digital health, healthcare IT, AI, and cloud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889504"/>
            <a:ext cx="201168" cy="201168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7955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2332"/>
                </a:solidFill>
                <a:latin typeface="Aptos"/>
              </a:rPr>
              <a:t>Sticky, workflow-embedded product with high switching costs once adopted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730752"/>
            <a:ext cx="201168" cy="201168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57600"/>
            <a:ext cx="7955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2332"/>
                </a:solidFill>
                <a:latin typeface="Aptos"/>
              </a:rPr>
              <a:t>Recurring enterprise revenue plus integration and expansion layers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572000"/>
            <a:ext cx="201168" cy="201168"/>
          </a:xfrm>
          <a:prstGeom prst="ellipse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498848"/>
            <a:ext cx="7955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2332"/>
                </a:solidFill>
                <a:latin typeface="Aptos"/>
              </a:rPr>
              <a:t>Strong fit for long-duration public-sector and regulated-health buyers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8755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8D3E6"/>
                </a:solidFill>
                <a:latin typeface="Aptos"/>
              </a:rPr>
              <a:t>Healthcare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719072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Healthcare 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33472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8E6EE"/>
                </a:solidFill>
                <a:latin typeface="Aptos"/>
              </a:rPr>
              <a:t>We are building the operating system for modern public-sector and regulated healthcare coordination.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2628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enquiry@healthcareconnect.ca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42048" y="914400"/>
            <a:ext cx="2212848" cy="4498848"/>
          </a:xfrm>
          <a:prstGeom prst="roundRect">
            <a:avLst/>
          </a:prstGeom>
          <a:solidFill>
            <a:srgbClr val="163149"/>
          </a:solidFill>
          <a:ln>
            <a:solidFill>
              <a:srgbClr val="163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7708392" y="1463040"/>
            <a:ext cx="1280160" cy="1280160"/>
          </a:xfrm>
          <a:prstGeom prst="star5">
            <a:avLst/>
          </a:prstGeom>
          <a:solidFill>
            <a:srgbClr val="F1CF63"/>
          </a:solidFill>
          <a:ln>
            <a:solidFill>
              <a:srgbClr val="F1C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24927" y="332841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8E6EE"/>
                </a:solidFill>
                <a:latin typeface="Aptos"/>
              </a:rPr>
              <a:t>Government-ready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4927" y="3657600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care, data,</a:t>
            </a:r>
            <a:br/>
            <a:r>
              <a:t>and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5394960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07284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Connect Pitch Deck</dc:title>
  <dc:subject>Government-ready digital health infrastructure</dc:subject>
  <dc:creator>OpenAI 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