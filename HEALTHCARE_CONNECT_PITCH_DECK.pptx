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0360152" cy="58338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384048"/>
            <a:ext cx="9582912" cy="5074920"/>
          </a:xfrm>
          <a:prstGeom prst="roundRect">
            <a:avLst/>
          </a:prstGeom>
          <a:solidFill>
            <a:srgbClr val="09151F"/>
          </a:solidFill>
          <a:ln>
            <a:solidFill>
              <a:srgbClr val="091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88352" y="384048"/>
            <a:ext cx="2578608" cy="5074920"/>
          </a:xfrm>
          <a:prstGeom prst="roundRect">
            <a:avLst/>
          </a:prstGeom>
          <a:solidFill>
            <a:srgbClr val="163149"/>
          </a:solidFill>
          <a:ln>
            <a:solidFill>
              <a:srgbClr val="16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7973568" y="868680"/>
            <a:ext cx="1353312" cy="1353312"/>
          </a:xfrm>
          <a:prstGeom prst="star5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D3E6"/>
                </a:solidFill>
                <a:latin typeface="Aptos"/>
              </a:rPr>
              <a:t>Health + Data + AI +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Georgia"/>
              </a:rPr>
              <a:t>Healthcare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6EE"/>
                </a:solidFill>
                <a:latin typeface="Aptos"/>
              </a:rPr>
              <a:t>A government-ready operating system for modern healthcare coordination, reporting, and AI-assisted oversight.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720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E6EE"/>
                </a:solidFill>
                <a:latin typeface="Aptos"/>
              </a:rPr>
              <a:t>enquiry@healthcareconnect.ca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7808" y="1828800"/>
            <a:ext cx="1993392" cy="841248"/>
          </a:xfrm>
          <a:prstGeom prst="roundRect">
            <a:avLst/>
          </a:prstGeom>
          <a:solidFill>
            <a:srgbClr val="1B3750"/>
          </a:solidFill>
          <a:ln>
            <a:solidFill>
              <a:srgbClr val="1B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95681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C8DF"/>
                </a:solidFill>
                <a:latin typeface="Aptos"/>
              </a:rPr>
              <a:t>$288.6B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9456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digital 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2889504"/>
            <a:ext cx="1993392" cy="841248"/>
          </a:xfrm>
          <a:prstGeom prst="roundRect">
            <a:avLst/>
          </a:prstGeom>
          <a:solidFill>
            <a:srgbClr val="1B3750"/>
          </a:solidFill>
          <a:ln>
            <a:solidFill>
              <a:srgbClr val="1B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01752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C8DF"/>
                </a:solidFill>
                <a:latin typeface="Aptos"/>
              </a:rPr>
              <a:t>$94.95B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5526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U.S. 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950208"/>
            <a:ext cx="1993392" cy="841248"/>
          </a:xfrm>
          <a:prstGeom prst="roundRect">
            <a:avLst/>
          </a:prstGeom>
          <a:solidFill>
            <a:srgbClr val="1B3750"/>
          </a:solidFill>
          <a:ln>
            <a:solidFill>
              <a:srgbClr val="1B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07822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C8DF"/>
                </a:solidFill>
                <a:latin typeface="Aptos"/>
              </a:rPr>
              <a:t>$42.5B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31596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health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Most healthcare systems still run across fragmented records, slow routing, weak reporting, and disconnected oversight.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Fragmented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Patient records, referrals, service history, and follow-up actions are often split across facilities and siloed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Weak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Ministries, hospital groups, and regional operators struggle to see demand, bottlenecks, and program performance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Data without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 data may exist, but not inside a platform that supports secure workflows, routing, and governed decision-making.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475488"/>
            <a:ext cx="9418320" cy="5394960"/>
          </a:xfrm>
          <a:prstGeom prst="round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Connect turns fragmented health workflows into one secure cloud operating layer for care, reporting, and system oversight.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48256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75104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Unified patient and case records across authorized health institutions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889504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8163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Referral, scheduling, discharge, and follow-up coordination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730752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5760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Facility, workforce, claims, and program reporting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572000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49884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AI support for forecasting, triage, risk review, and 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Three market forces make government-grade health infrastructure a high-conviction timing opportunity.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Digitization budgets are moving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The global digital health market reached $288.55B in 2024 and is projected to reach $946.04B by 2030.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U.S. market is already large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The U.S. digital health market is estimated at $94.95B in 2024 and projected to reach $276.62B by 2030.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AI + cloud need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cloud reached $42.5B in 2024, while AI in healthcare is projected to reach $505.59B by 2033.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Product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Connect sits at the operational center of care delivery, reporting, and health-system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01952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8483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332"/>
                </a:solidFill>
                <a:latin typeface="Georgia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670048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Patient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3200400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Facility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73075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Program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64208"/>
            <a:ext cx="2971800" cy="3703320"/>
          </a:xfrm>
          <a:prstGeom prst="roundRect">
            <a:avLst/>
          </a:prstGeom>
          <a:solidFill>
            <a:srgbClr val="0F2E46"/>
          </a:solidFill>
          <a:ln>
            <a:solidFill>
              <a:srgbClr val="0F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207" y="1847088"/>
            <a:ext cx="2569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Healthcare Connect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1" y="2432304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1" y="2962656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Referrals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1" y="3493008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1" y="4023359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AI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1" y="4553711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Oversight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901952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208483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332"/>
                </a:solidFill>
                <a:latin typeface="Georgia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2670048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Care continuity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3200400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373075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Forecasts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4261103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Public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The platform expands from a coordination wedge into broader system infrastructure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9098280" cy="713232"/>
          </a:xfrm>
          <a:prstGeom prst="roundRect">
            <a:avLst/>
          </a:prstGeom>
          <a:solidFill>
            <a:srgbClr val="EAF2F6"/>
          </a:solidFill>
          <a:ln>
            <a:solidFill>
              <a:srgbClr val="C9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751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E46"/>
                </a:solidFill>
                <a:latin typeface="Georgia"/>
              </a:rPr>
              <a:t>Patient record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56816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332"/>
                </a:solidFill>
                <a:latin typeface="Aptos"/>
              </a:rPr>
              <a:t>Longitudinal profiles, documents, diagnoses, medications, and encounter continuity.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43200"/>
            <a:ext cx="9098280" cy="713232"/>
          </a:xfrm>
          <a:prstGeom prst="roundRect">
            <a:avLst/>
          </a:prstGeom>
          <a:solidFill>
            <a:srgbClr val="DDEBF3"/>
          </a:solidFill>
          <a:ln>
            <a:solidFill>
              <a:srgbClr val="C9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95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E46"/>
                </a:solidFill>
                <a:latin typeface="Georgia"/>
              </a:rPr>
              <a:t>Coordination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871216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332"/>
                </a:solidFill>
                <a:latin typeface="Aptos"/>
              </a:rPr>
              <a:t>Referrals, scheduling, case routing, care-team actions, and follow-up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657600"/>
            <a:ext cx="9098280" cy="713232"/>
          </a:xfrm>
          <a:prstGeom prst="roundRect">
            <a:avLst/>
          </a:prstGeom>
          <a:solidFill>
            <a:srgbClr val="EAF2F6"/>
          </a:solidFill>
          <a:ln>
            <a:solidFill>
              <a:srgbClr val="C9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8039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E46"/>
                </a:solidFill>
                <a:latin typeface="Georgia"/>
              </a:rPr>
              <a:t>Administration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85616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332"/>
                </a:solidFill>
                <a:latin typeface="Aptos"/>
              </a:rPr>
              <a:t>Claims, program eligibility, facility oversight, and workflow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572000"/>
            <a:ext cx="9098280" cy="713232"/>
          </a:xfrm>
          <a:prstGeom prst="roundRect">
            <a:avLst/>
          </a:prstGeom>
          <a:solidFill>
            <a:srgbClr val="DDEBF3"/>
          </a:solidFill>
          <a:ln>
            <a:solidFill>
              <a:srgbClr val="C9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7183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E46"/>
                </a:solidFill>
                <a:latin typeface="Georgia"/>
              </a:rPr>
              <a:t>Intelligence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700016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332"/>
                </a:solidFill>
                <a:latin typeface="Aptos"/>
              </a:rPr>
              <a:t>Dashboards, forecasting, anomaly detection, and governed AI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Beachhead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The first buyers are institutions with urgent coordination needs, budget authority, and recurring operational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National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High-value deployments around immunization, maternal health, chronic care, disease programs, and public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Regional oversight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Authorities need visibility across facilities, referrals, workforce activity, and health-system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Provider networks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Hospitals, labs, pharmacies, and regulated partners need one governed environment instead of disconnected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How value is created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The product produces operational value in a repeatable loop from intake to insight.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Create or locate patient identity, authorized records, and service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82112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Coordinate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Route referrals, diagnostics, follow-up tasks, and cross-facility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49824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Aggregate facility, program, and regional activity into structured dashboards.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17536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Use analytics and AI support to plan capacity, flag risk, and strengthen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Why this can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Trust, governance, and workflow depth create defensibility in regulated deployment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9144000" cy="3493008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7284"/>
                </a:solidFill>
                <a:latin typeface="Aptos"/>
              </a:rP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048256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7284"/>
                </a:solidFill>
                <a:latin typeface="Aptos"/>
              </a:rPr>
              <a:t>Record or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204825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7284"/>
                </a:solidFill>
                <a:latin typeface="Aptos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450592"/>
            <a:ext cx="8732520" cy="9144"/>
          </a:xfrm>
          <a:prstGeom prst="rect">
            <a:avLst/>
          </a:prstGeom>
          <a:solidFill>
            <a:srgbClr val="D9E7EE"/>
          </a:solidFill>
          <a:ln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332"/>
                </a:solidFill>
                <a:latin typeface="Aptos"/>
              </a:rPr>
              <a:t>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0545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Patient records and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054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8A7B"/>
                </a:solidFill>
                <a:latin typeface="Aptos"/>
              </a:rPr>
              <a:t>defensible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3108960"/>
            <a:ext cx="8732520" cy="9144"/>
          </a:xfrm>
          <a:prstGeom prst="rect">
            <a:avLst/>
          </a:prstGeom>
          <a:solidFill>
            <a:srgbClr val="D9E7EE"/>
          </a:solidFill>
          <a:ln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6382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332"/>
                </a:solidFill>
                <a:latin typeface="Aptos"/>
              </a:rPr>
              <a:t>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16382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Record activity and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1638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8A7B"/>
                </a:solidFill>
                <a:latin typeface="Aptos"/>
              </a:rPr>
              <a:t>embedded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" y="3767327"/>
            <a:ext cx="8732520" cy="9144"/>
          </a:xfrm>
          <a:prstGeom prst="rect">
            <a:avLst/>
          </a:prstGeom>
          <a:solidFill>
            <a:srgbClr val="D9E7EE"/>
          </a:solidFill>
          <a:ln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1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332"/>
                </a:solidFill>
                <a:latin typeface="Aptos"/>
              </a:rPr>
              <a:t>Data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822191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Cloud and backup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822191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8A7B"/>
                </a:solidFill>
                <a:latin typeface="Aptos"/>
              </a:rPr>
              <a:t>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4425696"/>
            <a:ext cx="8732520" cy="9144"/>
          </a:xfrm>
          <a:prstGeom prst="rect">
            <a:avLst/>
          </a:prstGeom>
          <a:solidFill>
            <a:srgbClr val="D9E7EE"/>
          </a:solidFill>
          <a:ln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332"/>
                </a:solidFill>
                <a:latin typeface="Aptos"/>
              </a:rPr>
              <a:t>Program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4805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Regional reporting and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8A7B"/>
                </a:solidFill>
                <a:latin typeface="Aptos"/>
              </a:rPr>
              <a:t>sticky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Connect sits inside multiple large infrastructure markets with recurring modernization demand.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$288.55B digital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Global digital health was valued at $288.55B in 2024 and is projected to reach $946.04B by 2030.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$76.72B cloud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Global healthcare cloud infrastructure reached $76.72B in 2024, with 16.66% CAGR projected through 2030.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$505.59B AI in 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Grand View projects global AI in healthcare could reach $505.59B by 2033, with North America leading adoption.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475488"/>
            <a:ext cx="9418320" cy="5394960"/>
          </a:xfrm>
          <a:prstGeom prst="round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Commercial entry starts with high-need operational deployments and expands through network-level integration.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48256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75104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Lead with high-friction coordination and reporting use cases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889504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8163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Sell into ministries, regional authorities, and public hospital groups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730752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5760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Expand from initial workflows into reporting, claims, and AI modules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572000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49884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Build multi-year revenue through deployment, integration, and enterprise contracts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Revenue compounds through infrastructure contracts, implementation layers, and high-value add-on modules.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Platform licensing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Government and enterprise health contracts tied to program, region, or network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Implementation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Integration, rollout, migration, training, and workflow configuration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Expansion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Premium analytics, interoperability, claims workflows, and governed AI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Expansion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The business expands from workflow infrastructure into broader system intelligence and network coverage.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Win with coordination, identity, referrals, and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82112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Expand into claims, reporting, and population-level oversight.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49824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Layer in AI support, forecasting, and anomaly detection.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17536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Scale to national interoperability and program-specific extensions.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475488"/>
            <a:ext cx="9418320" cy="5394960"/>
          </a:xfrm>
          <a:prstGeom prst="round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Investment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Connect sits where public-sector digitization, healthcare IT replacement, and governed AI adoption meet.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48256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75104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Large multi-market opportunity across digital health, healthcare IT, AI, and cloud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889504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81635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Sticky, workflow-embedded product with high switching costs once adopted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730752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5760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Recurring enterprise revenue plus integration and expansion layers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572000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49884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Strong fit for long-duration public-sector and regulated-health buyers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875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D3E6"/>
                </a:solidFill>
                <a:latin typeface="Aptos"/>
              </a:rPr>
              <a:t>Healthcare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71907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Healthcare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33472"/>
            <a:ext cx="5852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6EE"/>
                </a:solidFill>
                <a:latin typeface="Aptos"/>
              </a:rPr>
              <a:t>We are building the operating system for modern public-sector and regulated healthcare coordination.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26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enquiry@healthcareconnect.ca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2048" y="914400"/>
            <a:ext cx="2212848" cy="4498848"/>
          </a:xfrm>
          <a:prstGeom prst="roundRect">
            <a:avLst/>
          </a:prstGeom>
          <a:solidFill>
            <a:srgbClr val="163149"/>
          </a:solidFill>
          <a:ln>
            <a:solidFill>
              <a:srgbClr val="16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7708392" y="1463040"/>
            <a:ext cx="1280160" cy="1280160"/>
          </a:xfrm>
          <a:prstGeom prst="star5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33284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8E6EE"/>
                </a:solidFill>
                <a:latin typeface="Aptos"/>
              </a:rPr>
              <a:t>Government-ready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365760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care, data,</a:t>
            </a:r>
            <a:br/>
            <a:r>
              <a:t>and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Connect Pitch Deck</dc:title>
  <dc:subject>Government-ready digital health infrastructure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